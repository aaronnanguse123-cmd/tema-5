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8" r:id="rId3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ppt/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228600"/>
            <a:ext cx="1005840" cy="640080"/>
          </a:xfrm>
          <a:prstGeom prst="rect">
            <a:avLst/>
          </a:prstGeom>
        </p:spPr>
      </p:pic>
      <p:pic>
        <p:nvPicPr>
          <p:cNvPr id="3" name="Image 1" descr="/home/claude/ref/ppt/media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8600"/>
            <a:ext cx="1005840" cy="6400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6DB4"/>
                </a:solidFill>
              </a:rPr>
              <a:t>TECNOLÓGICO NACIONAL DE MÉXICO  ·  INSTITUTO TECNOLÓGICO DE FRONTERA COMALAPA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274320" y="1280160"/>
            <a:ext cx="8595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F5F"/>
                </a:solidFill>
              </a:rPr>
              <a:t>UNIDAD ACADÉMICA VENUSTIANO CARRANZA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F5F"/>
                </a:solidFill>
              </a:rPr>
              <a:t>INGENIERÍA EN SISTEMAS COMPUTACIONALES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F5F"/>
                </a:solidFill>
              </a:rPr>
              <a:t>SIMULACIÓN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6DB4"/>
                </a:solidFill>
              </a:rPr>
              <a:t>Proyecto Integrador – Fast Burger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274320" y="256032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Reporte de práctica: proceso de venta de hamburguesas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2011680" y="301752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9144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NOMBRE DEL ALUMNO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NÚMERO DE CONTROL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SEMESTRE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Aaron Adael Nanguse Hernández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241260093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274320" y="3794760"/>
            <a:ext cx="8595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F5F"/>
                </a:solidFill>
              </a:rPr>
              <a:t>PROFESOR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F5F"/>
                </a:solidFill>
              </a:rPr>
              <a:t>ING. FRANCISCO JAVIER MINGO VELÁZQUEZ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altLang="en-US" sz="900" b="1" dirty="0">
                <a:solidFill>
                  <a:srgbClr val="2E6DB4"/>
                </a:solidFill>
              </a:rPr>
              <a:t>04</a:t>
            </a:r>
            <a:r>
              <a:rPr lang="en-US" sz="900" b="1" dirty="0">
                <a:solidFill>
                  <a:srgbClr val="2E6DB4"/>
                </a:solidFill>
              </a:rPr>
              <a:t> DE </a:t>
            </a:r>
            <a:r>
              <a:rPr lang="es-MX" altLang="en-US" sz="900" b="1" dirty="0">
                <a:solidFill>
                  <a:srgbClr val="2E6DB4"/>
                </a:solidFill>
              </a:rPr>
              <a:t>Octubre</a:t>
            </a:r>
            <a:r>
              <a:rPr lang="en-US" sz="900" b="1" dirty="0">
                <a:solidFill>
                  <a:srgbClr val="2E6DB4"/>
                </a:solidFill>
              </a:rPr>
              <a:t> DE 2026  ·  VENUSTIANO CARRANZA, CHIAPAS 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Índice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01168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51560"/>
            <a:ext cx="822960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Introducción · 2 Objetivos · Marco teórico (diapositivas 5 a 14) · 3 Descripción del proceso · 4 Camunda Modeler · 5 Bizagi Modeler · 6 Bonita Studio · 7 Pruebas · 8 Programa en Java · 9 Procedimiento del programa principal · 10 Programa final en IntelliJ IDEA · 11 Manual técnico · 12 Manual de usuario · 13 Cuadro comparativo · 14 Inconsistencias y evidencia faltante · 15 Conclusiones </a:t>
            </a:r>
            <a:endParaRPr lang="en-US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1. Introducción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 Burger es el proyecto integrador de la materia Simulación. Modela el proceso de venta de hamburguesas: el cliente solicita el menú, el empleado/cajero toma y registra el pedido, cocina verifica ingredientes y prepara, y finalmente se cobra y se entrega.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proceso se representó con BPMN en tres herramientas: Camunda Modeler, Bizagi Modeler y Bonita Studio, conservando la misma lógica. En Bizagi se realizó además la simulación (tiempos, probabilidades, recursos y calendario) y se probaron dos escenarios. Después se desarrolló en Java, con IntelliJ IDEA, un programa de consola que replica el flujo. Se elaboraron un manual técnico y un manual de usuario de los tres diagramas.</a:t>
            </a:r>
            <a:endParaRPr lang="en-US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OBJETIVOS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2. Objetivos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Modelar, simular y programar el proceso de venta de hamburguesas de Fast Burger mediante BPMN en tres herramientas y un programa en Java, documentando el procedimiento con evidencias.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Elaborar el diagrama BPMN en Camunda, Bizagi y Bonita Studio.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Simular el proceso en Bizagi con 1000 llegadas y comparar dos configuraciones de recursos.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Desarrollar y probar el programa integrador en Java (IntelliJ IDEA).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Elaborar manual técnico y de usuario con cuadro comparativo de las tres herramientas.</a:t>
            </a:r>
            <a:endParaRPr lang="en-US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1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Simulación de procesos: concepto y ventajas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5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1003300" y="1005840"/>
            <a:ext cx="7138035" cy="349377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1195070" y="1005840"/>
            <a:ext cx="6865620" cy="34182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spcBef>
                <a:spcPts val="300"/>
              </a:spcBef>
              <a:spcAft>
                <a:spcPts val="200"/>
              </a:spcAft>
              <a:buNone/>
            </a:pPr>
            <a:endParaRPr lang="es-MX" sz="1200" b="1" dirty="0">
              <a:solidFill>
                <a:srgbClr val="1F2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4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es simular?</a:t>
            </a:r>
            <a:endParaRPr lang="es-MX" sz="1400" b="1" dirty="0">
              <a:solidFill>
                <a:srgbClr val="1F2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Aft>
                <a:spcPts val="300"/>
              </a:spcAft>
              <a:buNone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Simular es construir un modelo de un sistema real y experimentar con él para observar su comportamiento sin alterar la operación verdadera.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4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Ventajas</a:t>
            </a:r>
            <a:endParaRPr lang="es-MX" sz="1400" b="1" dirty="0">
              <a:solidFill>
                <a:srgbClr val="1F2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Permite probar escenarios del tipo «¿qué pasa si…?» sin costo ni riesgo para el negocio.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Detecta cuellos de botella, esperas y recursos subutilizados antes de hacer cambios.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Comprime el tiempo: miles de casos se simulan en segundos.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Apoya decisiones con datos, por ejemplo cuántos cajeros o cocineros se necesitan.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4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Limitaciones</a:t>
            </a:r>
            <a:endParaRPr lang="es-MX" sz="1400" b="1" dirty="0">
              <a:solidFill>
                <a:srgbClr val="1F2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resultados dependen de la calidad de los datos de entrada (tiempos y probabilidades).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una aproximación: no sustituye la validación en el sistema re</a:t>
            </a:r>
            <a:r>
              <a:rPr lang="es-MX" sz="1400" dirty="0">
                <a:solidFill>
                  <a:srgbClr val="444444"/>
                </a:solidFill>
              </a:rPr>
              <a:t>al.</a:t>
            </a:r>
            <a:endParaRPr lang="es-MX" sz="1400" dirty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2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Simulación de eventos discretos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6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365760" y="914400"/>
            <a:ext cx="8412480" cy="210312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457200" y="1005840"/>
            <a:ext cx="8229600" cy="1920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Simulación de eventos discretos (SED)</a:t>
            </a:r>
            <a:endParaRPr lang="es-MX" sz="1200" b="1" dirty="0">
              <a:solidFill>
                <a:srgbClr val="1F2F5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El estado del sistema cambia solo en instantes específicos llamados eventos, como la llegada de un cliente o el fin de una tarea. Entre un evento y otro no ocurre nada, por eso el reloj salta de evento en evento.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Entidades:</a:t>
            </a:r>
            <a:r>
              <a:rPr lang="es-MX" sz="1200" dirty="0">
                <a:solidFill>
                  <a:srgbClr val="444444"/>
                </a:solidFill>
              </a:rPr>
              <a:t> lo que fluye por el proceso (en Fast Burger, cada pedido o cliente).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Eventos:</a:t>
            </a:r>
            <a:r>
              <a:rPr lang="es-MX" sz="1200" dirty="0">
                <a:solidFill>
                  <a:srgbClr val="444444"/>
                </a:solidFill>
              </a:rPr>
              <a:t> llegada, inicio y término de una actividad.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Recursos:</a:t>
            </a:r>
            <a:r>
              <a:rPr lang="es-MX" sz="1200" dirty="0">
                <a:solidFill>
                  <a:srgbClr val="444444"/>
                </a:solidFill>
              </a:rPr>
              <a:t> quienes atienden: el cajero y el cocinero.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Colas:</a:t>
            </a:r>
            <a:r>
              <a:rPr lang="es-MX" sz="1200" dirty="0">
                <a:solidFill>
                  <a:srgbClr val="444444"/>
                </a:solidFill>
              </a:rPr>
              <a:t> espera de las entidades cuando el recurso está ocupado.</a:t>
            </a:r>
            <a:endParaRPr lang="es-MX" sz="1200" dirty="0">
              <a:solidFill>
                <a:srgbClr val="444444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Cada «llegada» en Bizagi es una entidad que recorre el diagrama; con 1000 llegadas se generan 1000 casos.</a:t>
            </a:r>
            <a:endParaRPr lang="es-MX" sz="1200" dirty="0">
              <a:solidFill>
                <a:srgbClr val="444444"/>
              </a:solidFill>
            </a:endParaRPr>
          </a:p>
        </p:txBody>
      </p:sp>
      <p:sp>
        <p:nvSpPr>
          <p:cNvPr id="8" name="Marco 8"/>
          <p:cNvSpPr/>
          <p:nvPr/>
        </p:nvSpPr>
        <p:spPr>
          <a:xfrm>
            <a:off x="365760" y="310896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</p:spPr>
      </p:sp>
      <p:pic>
        <p:nvPicPr>
          <p:cNvPr id="9" name="Imagen 9" descr="Referencia: Figura 3 del reporte (máx. 1000 llegadas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40" y="3154680"/>
            <a:ext cx="3532505" cy="1423035"/>
          </a:xfrm>
          <a:prstGeom prst="rect">
            <a:avLst/>
          </a:prstGeom>
        </p:spPr>
      </p:pic>
      <p:sp>
        <p:nvSpPr>
          <p:cNvPr id="10" name="Pie 10"/>
          <p:cNvSpPr txBox="1"/>
          <p:nvPr/>
        </p:nvSpPr>
        <p:spPr>
          <a:xfrm>
            <a:off x="718820" y="4755007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sz="800" i="1" dirty="0">
                <a:solidFill>
                  <a:srgbClr val="666666"/>
                </a:solidFill>
              </a:rPr>
              <a:t>Referencia: Figura 3 del reporte (máx. 1000 llegadas)</a:t>
            </a:r>
            <a:endParaRPr lang="es-MX" sz="800" i="1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3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Gestión de procesos de negocio (BPM)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7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387350" y="777240"/>
            <a:ext cx="6337935" cy="374904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692150" y="868680"/>
            <a:ext cx="5486400" cy="3566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4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 de negocio</a:t>
            </a:r>
            <a:endParaRPr lang="es-MX" sz="1400" b="1" dirty="0">
              <a:solidFill>
                <a:srgbClr val="1F2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Aft>
                <a:spcPts val="300"/>
              </a:spcAft>
              <a:buNone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 de actividades relacionadas que transforman una entrada en un resultado de valor para el cliente. En Fast Burger va del pedido a la entrega.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4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BPM (Business Process Management)</a:t>
            </a:r>
            <a:endParaRPr lang="es-MX" sz="1400" b="1" dirty="0">
              <a:solidFill>
                <a:srgbClr val="1F2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Aft>
                <a:spcPts val="300"/>
              </a:spcAft>
              <a:buNone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 para identificar, modelar, ejecutar, monitorear y mejorar los procesos de una organización.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4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vida BPM</a:t>
            </a:r>
            <a:endParaRPr lang="es-MX" sz="1400" b="1" dirty="0">
              <a:solidFill>
                <a:srgbClr val="1F2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y modelado del proceso.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Simulación y análisis de resultados.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o ejecución.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Monitoreo y optimización continua.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Aft>
                <a:spcPts val="300"/>
              </a:spcAft>
              <a:buNone/>
            </a:pPr>
            <a:r>
              <a:rPr lang="es-MX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Beneficio principal: una visión común y clara del proceso, base para automatizarlo.</a:t>
            </a:r>
            <a:endParaRPr lang="es-MX" sz="14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4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BPMN 2.0: elementos básicos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8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365760" y="914400"/>
            <a:ext cx="8412480" cy="210312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365760" y="894715"/>
            <a:ext cx="8229600" cy="26308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6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BPMN 2.0 (Business Process Model and Notation)</a:t>
            </a:r>
            <a:endParaRPr lang="es-MX" sz="1600" b="1" dirty="0">
              <a:solidFill>
                <a:srgbClr val="1F2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Estándar del Object Management Group (OMG) para representar procesos de forma gráfica, comprensible tanto para negocio como para sistemas.</a:t>
            </a:r>
            <a:endParaRPr lang="es-MX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6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Eventos (círculos):</a:t>
            </a:r>
            <a:r>
              <a:rPr lang="es-MX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inicio, intermedio y fin.</a:t>
            </a:r>
            <a:endParaRPr lang="es-MX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6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 (rectángulos redondeados):</a:t>
            </a:r>
            <a:r>
              <a:rPr lang="es-MX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tareas y subprocesos.</a:t>
            </a:r>
            <a:endParaRPr lang="es-MX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6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Compuertas (rombos):</a:t>
            </a:r>
            <a:r>
              <a:rPr lang="es-MX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decisiones: exclusiva (XOR), paralela (AND) e inclusiva (OR).</a:t>
            </a:r>
            <a:endParaRPr lang="es-MX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6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Flujos:</a:t>
            </a:r>
            <a:r>
              <a:rPr lang="es-MX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secuencia (flecha continua), de mensaje (punteada) y asociaciones.</a:t>
            </a:r>
            <a:endParaRPr lang="es-MX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600" b="1" dirty="0">
                <a:solidFill>
                  <a:srgbClr val="1F2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Participantes:</a:t>
            </a:r>
            <a:r>
              <a:rPr lang="es-MX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pools y carriles (lanes).</a:t>
            </a:r>
            <a:endParaRPr lang="es-MX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5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Pools, carriles y compuertas exclusivas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9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365760" y="914400"/>
            <a:ext cx="8412480" cy="173736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Pools, carriles y compuertas exclusivas en Fast Burger</a:t>
            </a:r>
            <a:endParaRPr lang="es-MX" sz="1200" b="1" dirty="0">
              <a:solidFill>
                <a:srgbClr val="1F2F5F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Pool:</a:t>
            </a:r>
            <a:r>
              <a:rPr lang="es-MX" sz="1200" dirty="0">
                <a:solidFill>
                  <a:srgbClr val="444444"/>
                </a:solidFill>
              </a:rPr>
              <a:t> representa al participante o la organización; los carriles lo dividen por responsable. Aquí: Cliente, Empleado / Cajero y Cocina.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Compuerta XOR:</a:t>
            </a:r>
            <a:r>
              <a:rPr lang="es-MX" sz="1200" dirty="0">
                <a:solidFill>
                  <a:srgbClr val="444444"/>
                </a:solidFill>
              </a:rPr>
              <a:t> solo una salida se activa según la condición: G1 ¿Cliente confirma?, G2 ¿Hay ingredientes? y G3 ¿Pago aprobado?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Flujos de retorno:</a:t>
            </a:r>
            <a:r>
              <a:rPr lang="es-MX" sz="1200" dirty="0">
                <a:solidFill>
                  <a:srgbClr val="444444"/>
                </a:solidFill>
              </a:rPr>
              <a:t> Modificar pedido, Ofrecer alternativa y Solicitar otro método de pago regresan a una actividad anterior.</a:t>
            </a:r>
            <a:endParaRPr lang="es-MX" sz="1200" dirty="0">
              <a:solidFill>
                <a:srgbClr val="444444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Por esos ciclos, una misma actividad puede ejecutarse más de una vez por caso, lo que se ve en los contadores de la simulación.</a:t>
            </a:r>
            <a:endParaRPr lang="es-MX" sz="1200" dirty="0">
              <a:solidFill>
                <a:srgbClr val="444444"/>
              </a:solidFill>
            </a:endParaRPr>
          </a:p>
        </p:txBody>
      </p:sp>
      <p:sp>
        <p:nvSpPr>
          <p:cNvPr id="8" name="Marco 8"/>
          <p:cNvSpPr/>
          <p:nvPr/>
        </p:nvSpPr>
        <p:spPr>
          <a:xfrm>
            <a:off x="365760" y="2743200"/>
            <a:ext cx="4297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</p:spPr>
      </p:sp>
      <p:pic>
        <p:nvPicPr>
          <p:cNvPr id="9" name="Imagen 9" descr="Referencia: Figura 2 del reporte (Bizagi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898596"/>
            <a:ext cx="4206240" cy="1426567"/>
          </a:xfrm>
          <a:prstGeom prst="rect">
            <a:avLst/>
          </a:prstGeom>
        </p:spPr>
      </p:pic>
      <p:sp>
        <p:nvSpPr>
          <p:cNvPr id="10" name="Pie 10"/>
          <p:cNvSpPr txBox="1"/>
          <p:nvPr/>
        </p:nvSpPr>
        <p:spPr>
          <a:xfrm>
            <a:off x="365760" y="4462272"/>
            <a:ext cx="42976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sz="800" i="1" dirty="0">
                <a:solidFill>
                  <a:srgbClr val="666666"/>
                </a:solidFill>
              </a:rPr>
              <a:t>Referencia: Figura 2 del reporte (Bizagi)</a:t>
            </a:r>
            <a:endParaRPr lang="es-MX" sz="800" i="1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6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Herramienta 1: Camunda Modeler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10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365760" y="914400"/>
            <a:ext cx="4663440" cy="374904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457200" y="1005840"/>
            <a:ext cx="4480560" cy="3566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¿Qué es?</a:t>
            </a:r>
            <a:endParaRPr lang="es-MX" sz="1200" b="1" dirty="0">
              <a:solidFill>
                <a:srgbClr val="1F2F5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Aplicación de escritorio de código abierto para crear diagramas BPMN 2.0 (y también DMN y formularios).</a:t>
            </a:r>
            <a:endParaRPr lang="es-MX" sz="1200" dirty="0">
              <a:solidFill>
                <a:srgbClr val="44444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Características</a:t>
            </a:r>
            <a:endParaRPr lang="es-MX" sz="1200" b="1" dirty="0">
              <a:solidFill>
                <a:srgbClr val="1F2F5F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Editor gráfico con paleta de herramientas a la izquierda y panel de propiedades.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Guarda los diagramas como archivos .bpmn (XML estándar).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Está pensado para procesos que luego se ejecutan en el motor de Camunda.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Según la versión, permite simular el recorrido de tokens, pero no estadísticas de tiempos y recursos.</a:t>
            </a:r>
            <a:endParaRPr lang="es-MX" sz="1200" dirty="0">
              <a:solidFill>
                <a:srgbClr val="44444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En el proyecto</a:t>
            </a:r>
            <a:endParaRPr lang="es-MX" sz="1200" b="1" dirty="0">
              <a:solidFill>
                <a:srgbClr val="1F2F5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Se usó para el diagrama con 3 carriles, 14 tareas y 3 compuertas exclusivas.</a:t>
            </a:r>
            <a:endParaRPr lang="es-MX" sz="1200" dirty="0">
              <a:solidFill>
                <a:srgbClr val="444444"/>
              </a:solidFill>
            </a:endParaRPr>
          </a:p>
        </p:txBody>
      </p:sp>
      <p:sp>
        <p:nvSpPr>
          <p:cNvPr id="8" name="Marco 8"/>
          <p:cNvSpPr/>
          <p:nvPr/>
        </p:nvSpPr>
        <p:spPr>
          <a:xfrm>
            <a:off x="5212080" y="914400"/>
            <a:ext cx="35661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</p:spPr>
      </p:sp>
      <p:pic>
        <p:nvPicPr>
          <p:cNvPr id="9" name="Imagen 9" descr="Referencia: Figura 1 del repor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0" y="1005840"/>
            <a:ext cx="3758565" cy="2333625"/>
          </a:xfrm>
          <a:prstGeom prst="rect">
            <a:avLst/>
          </a:prstGeom>
        </p:spPr>
      </p:pic>
      <p:sp>
        <p:nvSpPr>
          <p:cNvPr id="10" name="Pie 10"/>
          <p:cNvSpPr txBox="1"/>
          <p:nvPr/>
        </p:nvSpPr>
        <p:spPr>
          <a:xfrm>
            <a:off x="5577840" y="3383407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sz="800" i="1" dirty="0">
                <a:solidFill>
                  <a:srgbClr val="666666"/>
                </a:solidFill>
              </a:rPr>
              <a:t>Referencia: Figura 1 del reporte</a:t>
            </a:r>
            <a:endParaRPr lang="es-MX" sz="800" i="1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7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Herramienta 2: Bizagi Modeler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11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365760" y="914400"/>
            <a:ext cx="4663440" cy="374904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457200" y="1005840"/>
            <a:ext cx="4480560" cy="3566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¿Qué es?</a:t>
            </a:r>
            <a:endParaRPr lang="es-MX" sz="1200" b="1" dirty="0">
              <a:solidFill>
                <a:srgbClr val="1F2F5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Herramienta gratuita de modelado BPMN de Bizagi que incluye un módulo de simulación de procesos.</a:t>
            </a:r>
            <a:endParaRPr lang="es-MX" sz="1200" dirty="0">
              <a:solidFill>
                <a:srgbClr val="44444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Características</a:t>
            </a:r>
            <a:endParaRPr lang="es-MX" sz="1200" b="1" dirty="0">
              <a:solidFill>
                <a:srgbClr val="1F2F5F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Modelado BPMN 2.0 con pools, carriles, tareas y compuertas.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Simulación configurable: llegadas, tiempos, probabilidades, recursos y calendario.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Niveles de análisis, por ejemplo Validación de Proceso y Análisis de tiempo.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Resultados por tarea con contadores de ejecuciones completadas.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Genera documentación del proceso.</a:t>
            </a:r>
            <a:endParaRPr lang="es-MX" sz="1200" dirty="0">
              <a:solidFill>
                <a:srgbClr val="44444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En el proyecto</a:t>
            </a:r>
            <a:endParaRPr lang="es-MX" sz="1200" b="1" dirty="0">
              <a:solidFill>
                <a:srgbClr val="1F2F5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Es la única herramienta donde se simuló: 1000 llegadas y dos pruebas de recursos.</a:t>
            </a:r>
            <a:endParaRPr lang="es-MX" sz="1200" dirty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8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Herramienta 3: Bonita Studio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12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365760" y="914400"/>
            <a:ext cx="4663440" cy="374904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457200" y="1005840"/>
            <a:ext cx="4480560" cy="3566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¿Qué es?</a:t>
            </a:r>
            <a:endParaRPr lang="es-MX" sz="1200" b="1" dirty="0">
              <a:solidFill>
                <a:srgbClr val="1F2F5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Entorno de modelado de BonitaSoft para procesos BPMN ejecutables, integrado con la plataforma Bonita (motor y portal).</a:t>
            </a:r>
            <a:endParaRPr lang="es-MX" sz="1200" dirty="0">
              <a:solidFill>
                <a:srgbClr val="44444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Características</a:t>
            </a:r>
            <a:endParaRPr lang="es-MX" sz="1200" b="1" dirty="0">
              <a:solidFill>
                <a:srgbClr val="1F2F5F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Modelado BPMN con pools, carriles (participantes), tareas y compuertas.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Permite agregar formularios, conectores y datos al proceso.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Puede ejecutar y probar el proceso desde el propio Studio.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Ofrece una edición Community gratuita.</a:t>
            </a:r>
            <a:endParaRPr lang="es-MX" sz="1200" dirty="0">
              <a:solidFill>
                <a:srgbClr val="44444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En el proyecto</a:t>
            </a:r>
            <a:endParaRPr lang="es-MX" sz="1200" b="1" dirty="0">
              <a:solidFill>
                <a:srgbClr val="1F2F5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Se modeló el mismo proceso con 3 carriles y 3 compuertas exclusivas; la evidencia es la exportación del diagrama.</a:t>
            </a:r>
            <a:endParaRPr lang="es-MX" sz="1200" dirty="0">
              <a:solidFill>
                <a:srgbClr val="444444"/>
              </a:solidFill>
            </a:endParaRPr>
          </a:p>
        </p:txBody>
      </p:sp>
      <p:pic>
        <p:nvPicPr>
          <p:cNvPr id="9" name="Imagen 9" descr="Referencia: Figura 21 del repor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6835" y="960120"/>
            <a:ext cx="3832225" cy="2170430"/>
          </a:xfrm>
          <a:prstGeom prst="rect">
            <a:avLst/>
          </a:prstGeom>
        </p:spPr>
      </p:pic>
      <p:sp>
        <p:nvSpPr>
          <p:cNvPr id="10" name="Pie 10"/>
          <p:cNvSpPr txBox="1"/>
          <p:nvPr/>
        </p:nvSpPr>
        <p:spPr>
          <a:xfrm>
            <a:off x="5422900" y="3203702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sz="800" i="1" dirty="0">
                <a:solidFill>
                  <a:srgbClr val="666666"/>
                </a:solidFill>
              </a:rPr>
              <a:t>Referencia: Figura 21 del reporte</a:t>
            </a:r>
            <a:endParaRPr lang="es-MX" sz="800" i="1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9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Parámetros de la simulación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13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365760" y="914400"/>
            <a:ext cx="8412480" cy="201168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Parámetros de una simulación de procesos</a:t>
            </a:r>
            <a:endParaRPr lang="es-MX" sz="1200" b="1" dirty="0">
              <a:solidFill>
                <a:srgbClr val="1F2F5F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Llegadas:</a:t>
            </a:r>
            <a:r>
              <a:rPr lang="es-MX" sz="1200" dirty="0">
                <a:solidFill>
                  <a:srgbClr val="444444"/>
                </a:solidFill>
              </a:rPr>
              <a:t> cuántos casos entran y con qué frecuencia (Fast Burger: máximo 1000).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Tiempos:</a:t>
            </a:r>
            <a:r>
              <a:rPr lang="es-MX" sz="1200" dirty="0">
                <a:solidFill>
                  <a:srgbClr val="444444"/>
                </a:solidFill>
              </a:rPr>
              <a:t> duración de cada tarea (Tomar pedido 3 min, Preparar pedido 8 min).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Probabilidades:</a:t>
            </a:r>
            <a:r>
              <a:rPr lang="es-MX" sz="1200" dirty="0">
                <a:solidFill>
                  <a:srgbClr val="444444"/>
                </a:solidFill>
              </a:rPr>
              <a:t> porcentaje de casos por ruta en cada compuerta (¿Cliente confirma? 80 / 20; ¿Hay ingredientes? 90 / 10).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b="1" dirty="0">
                <a:solidFill>
                  <a:srgbClr val="1F2F5F"/>
                </a:solidFill>
              </a:rPr>
              <a:t>Recursos y calendario:</a:t>
            </a:r>
            <a:r>
              <a:rPr lang="es-MX" sz="1200" dirty="0">
                <a:solidFill>
                  <a:srgbClr val="444444"/>
                </a:solidFill>
              </a:rPr>
              <a:t> capacidad de cajeros y cocineros (1 o 2) y horario de operación (11:00 AM, 10 horas).</a:t>
            </a:r>
            <a:endParaRPr lang="es-MX" sz="1200" dirty="0">
              <a:solidFill>
                <a:srgbClr val="444444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Se analizan los casos completados y la carga de los recursos: un recurso saturado limita el flujo (1+1: 773 casos; 2+2: 1000).</a:t>
            </a:r>
            <a:endParaRPr lang="es-MX" sz="1200" dirty="0">
              <a:solidFill>
                <a:srgbClr val="444444"/>
              </a:solidFill>
            </a:endParaRPr>
          </a:p>
        </p:txBody>
      </p:sp>
      <p:sp>
        <p:nvSpPr>
          <p:cNvPr id="8" name="Marco 8"/>
          <p:cNvSpPr/>
          <p:nvPr/>
        </p:nvSpPr>
        <p:spPr>
          <a:xfrm>
            <a:off x="1666240" y="2999105"/>
            <a:ext cx="27432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</p:spPr>
      </p:sp>
      <p:pic>
        <p:nvPicPr>
          <p:cNvPr id="9" name="Imagen 9" descr="Referencia: Figura 14 del reporte (recursos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855" y="3063240"/>
            <a:ext cx="2411730" cy="1371600"/>
          </a:xfrm>
          <a:prstGeom prst="rect">
            <a:avLst/>
          </a:prstGeom>
        </p:spPr>
      </p:pic>
      <p:sp>
        <p:nvSpPr>
          <p:cNvPr id="10" name="Pie 10"/>
          <p:cNvSpPr txBox="1"/>
          <p:nvPr/>
        </p:nvSpPr>
        <p:spPr>
          <a:xfrm>
            <a:off x="1556385" y="4434967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sz="800" i="1" dirty="0">
                <a:solidFill>
                  <a:srgbClr val="666666"/>
                </a:solidFill>
              </a:rPr>
              <a:t>Referencia: Figura 14 del reporte (recursos)</a:t>
            </a:r>
            <a:endParaRPr lang="es-MX" sz="800" i="1" dirty="0">
              <a:solidFill>
                <a:srgbClr val="666666"/>
              </a:solidFill>
            </a:endParaRPr>
          </a:p>
        </p:txBody>
      </p:sp>
      <p:sp>
        <p:nvSpPr>
          <p:cNvPr id="11" name="Marco 11"/>
          <p:cNvSpPr/>
          <p:nvPr/>
        </p:nvSpPr>
        <p:spPr>
          <a:xfrm>
            <a:off x="5386705" y="3029585"/>
            <a:ext cx="27432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</p:spPr>
      </p:sp>
      <p:pic>
        <p:nvPicPr>
          <p:cNvPr id="12" name="Imagen 12" descr="Referencia: Figura 17 del reporte (calendari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085" y="3046730"/>
            <a:ext cx="1924685" cy="1445895"/>
          </a:xfrm>
          <a:prstGeom prst="rect">
            <a:avLst/>
          </a:prstGeom>
        </p:spPr>
      </p:pic>
      <p:sp>
        <p:nvSpPr>
          <p:cNvPr id="13" name="Pie 13"/>
          <p:cNvSpPr txBox="1"/>
          <p:nvPr/>
        </p:nvSpPr>
        <p:spPr>
          <a:xfrm>
            <a:off x="5386705" y="44927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sz="800" i="1" dirty="0">
                <a:solidFill>
                  <a:srgbClr val="666666"/>
                </a:solidFill>
              </a:rPr>
              <a:t>Referencia: Figura 17 del reporte (calendario)</a:t>
            </a:r>
            <a:endParaRPr lang="es-MX" sz="800" i="1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3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800" b="1" dirty="0">
                <a:solidFill>
                  <a:srgbClr val="2E6DB4"/>
                </a:solidFill>
              </a:rPr>
              <a:t>MARCO TEÓRICO  ·  10 DE 10</a:t>
            </a:r>
            <a:endParaRPr lang="es-MX" sz="800" b="1" dirty="0">
              <a:solidFill>
                <a:srgbClr val="2E6DB4"/>
              </a:solidFill>
            </a:endParaRPr>
          </a:p>
        </p:txBody>
      </p:sp>
      <p:sp>
        <p:nvSpPr>
          <p:cNvPr id="4" name="Titulo 4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F2F5F"/>
                </a:solidFill>
              </a:rPr>
              <a:t>Programación en Java e IntelliJ IDEA</a:t>
            </a:r>
            <a:endParaRPr lang="es-MX" sz="2000" b="1" dirty="0">
              <a:solidFill>
                <a:srgbClr val="1F2F5F"/>
              </a:solidFill>
            </a:endParaRPr>
          </a:p>
        </p:txBody>
      </p:sp>
      <p:sp>
        <p:nvSpPr>
          <p:cNvPr id="5" name="Num 5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900" dirty="0">
                <a:solidFill>
                  <a:srgbClr val="1F2F5F"/>
                </a:solidFill>
              </a:rPr>
              <a:t>14</a:t>
            </a:r>
            <a:endParaRPr lang="es-MX" sz="900" dirty="0">
              <a:solidFill>
                <a:srgbClr val="1F2F5F"/>
              </a:solidFill>
            </a:endParaRPr>
          </a:p>
        </p:txBody>
      </p:sp>
      <p:sp>
        <p:nvSpPr>
          <p:cNvPr id="6" name="Fondo 6"/>
          <p:cNvSpPr/>
          <p:nvPr/>
        </p:nvSpPr>
        <p:spPr>
          <a:xfrm>
            <a:off x="365760" y="914400"/>
            <a:ext cx="8412480" cy="2011680"/>
          </a:xfrm>
          <a:prstGeom prst="rect">
            <a:avLst/>
          </a:prstGeom>
          <a:solidFill>
            <a:srgbClr val="EDF1F9"/>
          </a:solidFill>
          <a:ln w="9525">
            <a:solidFill>
              <a:srgbClr val="D5DCEC"/>
            </a:solidFill>
            <a:prstDash val="solid"/>
          </a:ln>
        </p:spPr>
      </p:sp>
      <p:sp>
        <p:nvSpPr>
          <p:cNvPr id="7" name="Contenido 7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s-MX" sz="1200" b="1" dirty="0">
                <a:solidFill>
                  <a:srgbClr val="1F2F5F"/>
                </a:solidFill>
              </a:rPr>
              <a:t>Java e IntelliJ IDEA</a:t>
            </a:r>
            <a:endParaRPr lang="es-MX" sz="1200" b="1" dirty="0">
              <a:solidFill>
                <a:srgbClr val="1F2F5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s-MX" sz="1200" dirty="0">
                <a:solidFill>
                  <a:srgbClr val="444444"/>
                </a:solidFill>
              </a:rPr>
              <a:t>Java es un lenguaje orientado a objetos que se compila a bytecode y se ejecuta en la JVM. IntelliJ IDEA es el IDE de JetBrains con editor, autocompletado, depuración y consola integrada.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Scanner: lectura de datos por consola.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while: repite el menú principal hasta salir.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switch e if / else: eligen la opción o la ruta (equivalen a las compuertas).</a:t>
            </a:r>
            <a:endParaRPr lang="es-MX" sz="1200" dirty="0">
              <a:solidFill>
                <a:srgbClr val="444444"/>
              </a:solidFill>
            </a:endParaRPr>
          </a:p>
          <a:p>
            <a:pPr marL="171450" indent="-171450">
              <a:spcAft>
                <a:spcPts val="200"/>
              </a:spcAft>
              <a:buClr>
                <a:srgbClr val="2E6DB4"/>
              </a:buClr>
              <a:buFont typeface="Arial" panose="020B0604020202020204"/>
              <a:buChar char="•"/>
            </a:pPr>
            <a:r>
              <a:rPr lang="es-MX" sz="1200" dirty="0">
                <a:solidFill>
                  <a:srgbClr val="444444"/>
                </a:solidFill>
              </a:rPr>
              <a:t>Métodos: uno por actividad del BPMN, como procesarPedido().</a:t>
            </a:r>
            <a:endParaRPr lang="es-MX" sz="1200" dirty="0">
              <a:solidFill>
                <a:srgbClr val="444444"/>
              </a:solidFill>
            </a:endParaRPr>
          </a:p>
        </p:txBody>
      </p:sp>
      <p:sp>
        <p:nvSpPr>
          <p:cNvPr id="8" name="Marco 8"/>
          <p:cNvSpPr/>
          <p:nvPr/>
        </p:nvSpPr>
        <p:spPr>
          <a:xfrm>
            <a:off x="365760" y="3017520"/>
            <a:ext cx="23774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</p:spPr>
      </p:sp>
      <p:pic>
        <p:nvPicPr>
          <p:cNvPr id="9" name="Imagen 9" descr="Referencia: Figura 22 (código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3063240"/>
            <a:ext cx="1417320" cy="1456055"/>
          </a:xfrm>
          <a:prstGeom prst="rect">
            <a:avLst/>
          </a:prstGeom>
        </p:spPr>
      </p:pic>
      <p:sp>
        <p:nvSpPr>
          <p:cNvPr id="10" name="Pie 10"/>
          <p:cNvSpPr txBox="1"/>
          <p:nvPr/>
        </p:nvSpPr>
        <p:spPr>
          <a:xfrm>
            <a:off x="365760" y="446227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sz="800" i="1" dirty="0">
                <a:solidFill>
                  <a:srgbClr val="666666"/>
                </a:solidFill>
              </a:rPr>
              <a:t>Referencia: Figura 22 (código)</a:t>
            </a:r>
            <a:endParaRPr lang="es-MX" sz="800" i="1" dirty="0">
              <a:solidFill>
                <a:srgbClr val="666666"/>
              </a:solidFill>
            </a:endParaRPr>
          </a:p>
        </p:txBody>
      </p:sp>
      <p:sp>
        <p:nvSpPr>
          <p:cNvPr id="11" name="Marco 11"/>
          <p:cNvSpPr/>
          <p:nvPr/>
        </p:nvSpPr>
        <p:spPr>
          <a:xfrm>
            <a:off x="2834640" y="3017520"/>
            <a:ext cx="32004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C"/>
            </a:solidFill>
            <a:prstDash val="solid"/>
          </a:ln>
        </p:spPr>
      </p:sp>
      <p:pic>
        <p:nvPicPr>
          <p:cNvPr id="12" name="Imagen 12" descr="Referencia: Figura 23 (ejecució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931" y="3063240"/>
            <a:ext cx="2767818" cy="1371600"/>
          </a:xfrm>
          <a:prstGeom prst="rect">
            <a:avLst/>
          </a:prstGeom>
        </p:spPr>
      </p:pic>
      <p:sp>
        <p:nvSpPr>
          <p:cNvPr id="13" name="Pie 13"/>
          <p:cNvSpPr txBox="1"/>
          <p:nvPr/>
        </p:nvSpPr>
        <p:spPr>
          <a:xfrm>
            <a:off x="2834640" y="446227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sz="800" i="1" dirty="0">
                <a:solidFill>
                  <a:srgbClr val="666666"/>
                </a:solidFill>
              </a:rPr>
              <a:t>Referencia: Figura 23 (ejecución)</a:t>
            </a:r>
            <a:endParaRPr lang="es-MX" sz="800" i="1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PROCESO FAST BURGER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3. Descripción general del proceso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15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7665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Carril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Actividades (nombres del diagrama)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Cliente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Solicitar menú · Confirmar pedido · Modificar pedido · Realizar pago · Solicitar otro método de pago · Entregar pedido · Recibir pedido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Empleado / Cajero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Mostrar menú · Tomar pedido · Registrar pedido · Ofrecer alternativa · Calcular total · Cobrar pedido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Cocina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Verificar ingredientes · Preparar pedido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2788920"/>
            <a:ext cx="8412480" cy="173736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FLUJO: Inicio → Solicitar menú → Mostrar menú → Tomar pedido → Registrar pedido → Confirmar pedido → ¿Cliente confirma? (No: Modificar pedido y vuelve a verificación; Sí: Verificar ingredientes) → ¿Hay ingredientes? (Sí: Preparar pedido; No: Ofrecer alternativa y vuelve a Tomar pedido) → Calcular total → Cobrar pedido → Realizar pago → ¿Pago aprobado? (No: Solicitar otro método de pago y vuelve a Realizar pago; Sí: Entregar pedido) → Recibir pedido → Fin.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CAMUNDA MODELER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4. Modelado BPMN en Camunda Modeler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55448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6012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444444"/>
                </a:solidFill>
              </a:rPr>
              <a:t>Lo que se comprueba en la captura: el archivo «Fast_Burger_BPMN_Biz…» abierto en Camunda Modeler, con la paleta de herramientas a la izquierda (mano, lazo, flecha, evento, compuerta, tarea, pool). El pool tiene tres carriles (Cliente, Empleado / Cajero, Cocina), evento de inicio «Inicio», 14 tareas con ícono de usuario, tres compuertas exclusivas (X) con rutas Sí/No, flujos de secuencia y evento «Fin».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444444"/>
                </a:solidFill>
              </a:rPr>
              <a:t>[CAPTURA FALTANTE: apertura del proyecto y creación paso a paso (4.1–4.8). Solo se proporcionó el diagrama terminado, por lo que esos pasos no se describen.]</a:t>
            </a:r>
            <a:endParaRPr lang="en-US" sz="900" dirty="0"/>
          </a:p>
        </p:txBody>
      </p:sp>
      <p:pic>
        <p:nvPicPr>
          <p:cNvPr id="7" name="Image 0" descr="/mnt/user-data/uploads/1791257406034_Captura_de_pantalla_2026-10-05_18485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222" y="2560320"/>
            <a:ext cx="5329555" cy="20116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459943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1. Diagrama final del proceso en Camunda Modeler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BIZAGI MODELER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5. Modelado BPMN en Bizagi Modeler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17</a:t>
            </a:r>
            <a:endParaRPr lang="en-US" sz="900" dirty="0"/>
          </a:p>
        </p:txBody>
      </p:sp>
      <p:pic>
        <p:nvPicPr>
          <p:cNvPr id="5" name="Image 0" descr="/mnt/user-data/uploads/1791257406044_Nuevo_Model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250" y="868680"/>
            <a:ext cx="7279500" cy="2468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33649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2. Diagrama «Fast Burger - Venta de Hamburguesas» en Bizagi Modeler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444444"/>
                </a:solidFill>
              </a:rPr>
              <a:t>Evidencia: pool con carriles Cliente, Empleado / Cajero y Cocina; mismas actividades y compuertas (¿Cliente confirma?, ¿Hay ingredientes?, ¿Pago aprobado?) con rutas Sí/No. La marca «bizagi Modeler» confirma la herramienta.  construcción paso a paso (5.1–5.6).]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BIZAGI · SIMULACIÓN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5.7–5.9 Validación y análisis de tiempo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18</a:t>
            </a:r>
            <a:endParaRPr lang="en-US" sz="900" dirty="0"/>
          </a:p>
        </p:txBody>
      </p:sp>
      <p:pic>
        <p:nvPicPr>
          <p:cNvPr id="5" name="Image 0" descr="/mnt/user-data/uploads/1791257355363_Captura_de_pantalla_2026-10-05_17594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142" y="868680"/>
            <a:ext cx="2600436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235915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3. Validación: máx. 1000 llegadas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291840" y="914400"/>
            <a:ext cx="5486400" cy="164592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96012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Nivel «Validación de Proceso»: en el evento Inicio se configuró el Número máximo de llegadas = 1000, es decir, 1000 casos simulados.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Nivel «Análisis de tiempo»: tiempo de procesamiento por tarea (capturas siguientes).</a:t>
            </a:r>
            <a:endParaRPr lang="en-US" sz="1000" dirty="0"/>
          </a:p>
        </p:txBody>
      </p:sp>
      <p:pic>
        <p:nvPicPr>
          <p:cNvPr id="9" name="Image 1" descr="/mnt/user-data/uploads/1791257247610_Captura_de_pantalla_2026-10-05_180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93" y="2743200"/>
            <a:ext cx="1727414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35021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F2F5F"/>
                </a:solidFill>
              </a:rPr>
              <a:t>Figura 4. Solicitar menú: 1 min</a:t>
            </a:r>
            <a:endParaRPr lang="en-US" sz="700" dirty="0"/>
          </a:p>
        </p:txBody>
      </p:sp>
      <p:pic>
        <p:nvPicPr>
          <p:cNvPr id="11" name="Image 2" descr="/mnt/user-data/uploads/1791257355364_Captura_de_pantalla_2026-10-05_1801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962" y="2743200"/>
            <a:ext cx="1750092" cy="7315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487168" y="35021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F2F5F"/>
                </a:solidFill>
              </a:rPr>
              <a:t>Figura 5. Mostrar menú: 2 min</a:t>
            </a:r>
            <a:endParaRPr lang="en-US" sz="700" dirty="0"/>
          </a:p>
        </p:txBody>
      </p:sp>
      <p:pic>
        <p:nvPicPr>
          <p:cNvPr id="13" name="Image 3" descr="/mnt/user-data/uploads/1791257355365_Captura_de_pantalla_2026-10-05_1802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683" y="2743200"/>
            <a:ext cx="1895466" cy="7315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08576" y="35021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F2F5F"/>
                </a:solidFill>
              </a:rPr>
              <a:t>Figura 6. Tomar pedido: 3 min</a:t>
            </a:r>
            <a:endParaRPr lang="en-US" sz="700" dirty="0"/>
          </a:p>
        </p:txBody>
      </p:sp>
      <p:pic>
        <p:nvPicPr>
          <p:cNvPr id="15" name="Image 4" descr="/mnt/user-data/uploads/1791257355365_Captura_de_pantalla_2026-10-05_1802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743200"/>
            <a:ext cx="2011680" cy="65913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729984" y="342976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F2F5F"/>
                </a:solidFill>
              </a:rPr>
              <a:t>Figura 7. Registrar pedido: 1 min</a:t>
            </a:r>
            <a:endParaRPr lang="en-US" sz="700" dirty="0"/>
          </a:p>
        </p:txBody>
      </p:sp>
      <p:pic>
        <p:nvPicPr>
          <p:cNvPr id="17" name="Image 5" descr="/mnt/user-data/uploads/1791257247612_Captura_de_pantalla_2026-10-05_1803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794760"/>
            <a:ext cx="2011680" cy="669367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365760" y="4491559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F2F5F"/>
                </a:solidFill>
              </a:rPr>
              <a:t>Figura 8. Verificar ingredientes: 1 min</a:t>
            </a:r>
            <a:endParaRPr lang="en-US" sz="700" dirty="0"/>
          </a:p>
        </p:txBody>
      </p:sp>
      <p:pic>
        <p:nvPicPr>
          <p:cNvPr id="19" name="Image 6" descr="/mnt/user-data/uploads/1791257355366_Captura_de_pantalla_2026-10-05_1804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7168" y="3794760"/>
            <a:ext cx="2011680" cy="645256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2487168" y="44674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F2F5F"/>
                </a:solidFill>
              </a:rPr>
              <a:t>Figura 9. Preparar pedido: 8 min</a:t>
            </a:r>
            <a:endParaRPr lang="en-US" sz="700" dirty="0"/>
          </a:p>
        </p:txBody>
      </p:sp>
      <p:pic>
        <p:nvPicPr>
          <p:cNvPr id="21" name="Image 7" descr="/mnt/user-data/uploads/1791257247613_Captura_de_pantalla_2026-10-05_18045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1390" y="3794760"/>
            <a:ext cx="1846053" cy="73152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608576" y="45537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F2F5F"/>
                </a:solidFill>
              </a:rPr>
              <a:t>Figura 10. Calcular total: 1 min</a:t>
            </a:r>
            <a:endParaRPr lang="en-US" sz="700" dirty="0"/>
          </a:p>
        </p:txBody>
      </p:sp>
      <p:pic>
        <p:nvPicPr>
          <p:cNvPr id="23" name="Image 8" descr="/mnt/user-data/uploads/1791257247613_Captura_de_pantalla_2026-10-05_18053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3794760"/>
            <a:ext cx="2011680" cy="66928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729984" y="4491477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F2F5F"/>
                </a:solidFill>
              </a:rPr>
              <a:t>Figura 11. Cobrar pedido: 1 min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BIZAGI · SIMULACIÓN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5.10 Probabilidades de las compuertas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19</a:t>
            </a:r>
            <a:endParaRPr lang="en-US" sz="900" dirty="0"/>
          </a:p>
        </p:txBody>
      </p:sp>
      <p:pic>
        <p:nvPicPr>
          <p:cNvPr id="5" name="Image 0" descr="/mnt/user-data/uploads/1791257247617_Captura_de_pantalla_2026-10-05_1822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023360" cy="16076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2549457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12. ¿Cliente confirma?: Sí 80 % / No 20 %</a:t>
            </a:r>
            <a:endParaRPr lang="en-US" sz="800" dirty="0"/>
          </a:p>
        </p:txBody>
      </p:sp>
      <p:pic>
        <p:nvPicPr>
          <p:cNvPr id="7" name="Image 1" descr="/mnt/user-data/uploads/1791257355372_Captura_de_pantalla_2026-10-05_1822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023360" cy="14792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242112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13. ¿Hay ingredientes?: Sí 90 % / No 10 %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65760" y="3383280"/>
            <a:ext cx="8412480" cy="128016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5760" y="33832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Las probabilidades determinan qué porcentaje de casos toma cada ruta durante la simulación.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 probabilidad de la compuerta ¿Pago aprobado?. Los resultados muestran 7836 y 10082 ejecuciones de «Realizar pago» para 1000 llegadas; verificar esa configuración.]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BIZAGI · SIMULACIÓN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5.11 Recursos y 5.12 Calendario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20</a:t>
            </a:r>
            <a:endParaRPr lang="en-US" sz="900" dirty="0"/>
          </a:p>
        </p:txBody>
      </p:sp>
      <p:pic>
        <p:nvPicPr>
          <p:cNvPr id="5" name="Image 0" descr="/mnt/user-data/uploads/1791257247614_Captura_de_pantalla_2026-10-05_1810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05" y="780415"/>
            <a:ext cx="2113280" cy="13684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217627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14. Recursos: Cajero 1, Cocinero 1</a:t>
            </a:r>
            <a:endParaRPr lang="en-US" sz="800" dirty="0"/>
          </a:p>
        </p:txBody>
      </p:sp>
      <p:pic>
        <p:nvPicPr>
          <p:cNvPr id="7" name="Image 1" descr="/mnt/user-data/uploads/1791257355369_Captura_de_pantalla_2026-10-05_181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20" y="806450"/>
            <a:ext cx="2289175" cy="14624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08960" y="217627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i="1" dirty="0">
              <a:solidFill>
                <a:srgbClr val="1F2F5F"/>
              </a:solidFill>
            </a:endParaRPr>
          </a:p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15. Recurso Cajero (rol)</a:t>
            </a:r>
            <a:endParaRPr lang="en-US" sz="800" dirty="0"/>
          </a:p>
        </p:txBody>
      </p:sp>
      <p:pic>
        <p:nvPicPr>
          <p:cNvPr id="9" name="Image 2" descr="/mnt/user-data/uploads/1791257247615_Captura_de_pantalla_2026-10-05_1811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260" y="726440"/>
            <a:ext cx="2257425" cy="1422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43600" y="217627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16. Recurso Cocinero: Preparar pedido</a:t>
            </a:r>
            <a:endParaRPr lang="en-US" sz="800" dirty="0"/>
          </a:p>
        </p:txBody>
      </p:sp>
      <p:pic>
        <p:nvPicPr>
          <p:cNvPr id="11" name="Image 3" descr="/mnt/user-data/uploads/1791257247616_Captura_de_pantalla_2026-10-05_1812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12" y="2651760"/>
            <a:ext cx="2274376" cy="18288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74320" y="450799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17. Calendario «Horario Fast Burger»</a:t>
            </a:r>
            <a:endParaRPr lang="en-US" sz="800" dirty="0"/>
          </a:p>
        </p:txBody>
      </p:sp>
      <p:sp>
        <p:nvSpPr>
          <p:cNvPr id="13" name="Shape 7"/>
          <p:cNvSpPr/>
          <p:nvPr/>
        </p:nvSpPr>
        <p:spPr>
          <a:xfrm>
            <a:off x="3566160" y="2743200"/>
            <a:ext cx="5303520" cy="201168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3657600" y="2781300"/>
            <a:ext cx="512064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Recursos: el Cajero atiende Mostrar menú, Tomar pedido, Registrar pedido, Ofrecer alternativa, Calcular total, Cobrar pedido y Solicitar otro método…; el Cocinero atiende Preparar pedido (según la descripción visible).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Calendario: «Horario Fast Burger», inicio 11:00 AM, duración 10 horas, patrón diario cada 1 día, desde 10/05/2026 sin fecha final.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BIZAGI · PRUEBAS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5.13–5.15 Simulación y segunda prueba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21</a:t>
            </a:r>
            <a:endParaRPr lang="en-US" sz="900" dirty="0"/>
          </a:p>
        </p:txBody>
      </p:sp>
      <p:pic>
        <p:nvPicPr>
          <p:cNvPr id="5" name="Image 0" descr="/mnt/user-data/uploads/1791257355371_Captura_de_pantalla_2026-10-05_18165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4206240" cy="16294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252555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18. Prueba 1: 1 cajero y 1 cocinero</a:t>
            </a:r>
            <a:endParaRPr lang="en-US" sz="800" dirty="0"/>
          </a:p>
        </p:txBody>
      </p:sp>
      <p:pic>
        <p:nvPicPr>
          <p:cNvPr id="7" name="Image 1" descr="/mnt/user-data/uploads/1791257406034_Captura_de_pantalla_2026-10-05_1828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68680"/>
            <a:ext cx="4206240" cy="16153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63440" y="251147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19. Prueba 2: más recursos</a:t>
            </a:r>
            <a:endParaRPr lang="en-US" sz="800" dirty="0"/>
          </a:p>
        </p:txBody>
      </p:sp>
      <p:pic>
        <p:nvPicPr>
          <p:cNvPr id="9" name="Image 2" descr="/mnt/user-data/uploads/1791257247617_Captura_de_pantalla_2026-10-05_182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6" y="3108960"/>
            <a:ext cx="2162908" cy="1371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74320" y="450799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20. Prueba 2: Cajero 2, Cocinero 2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2834640" y="3200400"/>
            <a:ext cx="6035040" cy="155448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2926080" y="3246120"/>
            <a:ext cx="58521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Prueba 1: 1000 llegadas; Fin completado 773 veces. Prueba 2 (Cajero 2 y Cocinero 2): Fin completado 1000 veces. Al aumentar recursos se completaron todos los casos.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Nota: en la captura de Prueba 1 el cuadro de recursos mostrado es 1/1; la de 2/2 se vincula a Prueba 2 por los resultados.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PRUEBAS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7. Pruebas: comparación de resultados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Actividad / evento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Prueba 1 (1+1)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Prueba 2 (2+2)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Inicio / Solicitar menú / Mostrar menú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1000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1000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Tomar / Registrar / Confirmar pedido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1105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1107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Modificar pedido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217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Ofrecer alternativa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105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107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Verificar ingredientes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1088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1107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Preparar pedido / Calcular total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776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1000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Cobrar pedido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775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1000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Realizar pago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7836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10082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Solicitar otro método de pago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7061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9062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Entregar / Recibir pedido / Fin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773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1000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Valores de «Completado» visibles en las capturas. Qué cambió: la cantidad de cajeros y cocineros. Qué se verificó: el efecto de los recursos en los casos terminados.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BONITA STUDIO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6. Modelado BPMN en Bonita Studio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23</a:t>
            </a:r>
            <a:endParaRPr lang="en-US" sz="900" dirty="0"/>
          </a:p>
        </p:txBody>
      </p:sp>
      <p:pic>
        <p:nvPicPr>
          <p:cNvPr id="5" name="Image 0" descr="/mnt/user-data/uploads/1791257406044_Fast_Burger_BPMN_Bonita_Studio_DEFINITIVO-1_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02" y="868680"/>
            <a:ext cx="7637197" cy="2468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33649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21. Diagrama final en Bonita Studio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444444"/>
                </a:solidFill>
              </a:rPr>
              <a:t>Evidencia: el mismo proceso con tres carriles, tres compuertas exclusivas y rutas Sí/No; la tarea «Solicitar otro método de pago» se muestra truncada («Solicitar otro…») por la interfaz. apertura, creación de proceso, participantes, actividades y conexiones (6.1–6.9). La captura es una exportación, no de la interfaz.]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PROGRAMA INTEGRADOR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8. Programa en Java: versión 1 (FastBurger.java)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24</a:t>
            </a:r>
            <a:endParaRPr lang="en-US" sz="900" dirty="0"/>
          </a:p>
        </p:txBody>
      </p:sp>
      <p:pic>
        <p:nvPicPr>
          <p:cNvPr id="5" name="Image 0" descr="/mnt/user-data/uploads/1791257406035_Captura_de_pantalla_2026-10-05_18553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2926080" cy="28318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727919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22. Código: clase FastBurger y main()</a:t>
            </a:r>
            <a:endParaRPr lang="en-US" sz="800" dirty="0"/>
          </a:p>
        </p:txBody>
      </p:sp>
      <p:pic>
        <p:nvPicPr>
          <p:cNvPr id="7" name="Image 1" descr="/mnt/user-data/uploads/1791257406035_Captura_de_pantalla_2026-10-05_185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868680"/>
            <a:ext cx="2743200" cy="1359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83280" y="225551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23. Ejecución: menú principal</a:t>
            </a:r>
            <a:endParaRPr lang="en-US" sz="800" dirty="0"/>
          </a:p>
        </p:txBody>
      </p:sp>
      <p:pic>
        <p:nvPicPr>
          <p:cNvPr id="9" name="Image 2" descr="/mnt/user-data/uploads/1791257406036_Captura_de_pantalla_2026-10-05_185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68680"/>
            <a:ext cx="2560320" cy="217051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09360" y="3066625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24. Menú de 4 hamburguesas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444444"/>
                </a:solidFill>
              </a:rPr>
              <a:t>Lenguaje Java en IntelliJ IDEA. main() muestra «FAST BURGER - SISTEMA DE VENTA», un menú (1. Realizar pedido, 2. Salir) con while y switch, y llama a procesarPedido(). Precios: clásica $80, con queso $95, doble $120, especial $140.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PROGRAMA INTEGRADOR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Prueba de la versión 1: pedido completo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25</a:t>
            </a:r>
            <a:endParaRPr lang="en-US" sz="900" dirty="0"/>
          </a:p>
        </p:txBody>
      </p:sp>
      <p:pic>
        <p:nvPicPr>
          <p:cNvPr id="5" name="Image 0" descr="/mnt/user-data/uploads/1791257406037_Captura_de_pantalla_2026-10-05_18584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554" y="868680"/>
            <a:ext cx="3277772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73075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25. Producto 3, confirmación, ingredientes, total y cobro</a:t>
            </a:r>
            <a:endParaRPr lang="en-US" sz="800" dirty="0"/>
          </a:p>
        </p:txBody>
      </p:sp>
      <p:pic>
        <p:nvPicPr>
          <p:cNvPr id="7" name="Image 1" descr="/mnt/user-data/uploads/1791257406037_Captura_de_pantalla_2026-10-05_1859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956" y="868680"/>
            <a:ext cx="3973207" cy="2834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63440" y="373075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26. Pago aprobado y entrega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Prueba: Hamburguesa doble, confirmada (s), ingredientes disponibles, total $120.00, pago en efectivo aprobado y entrega. Termina con «PROCESO FINALIZADO».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PROGRAMA FINAL INTEGRADOR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10. Programa final: FastBurgerFinal.java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26</a:t>
            </a:r>
            <a:endParaRPr lang="en-US" sz="900" dirty="0"/>
          </a:p>
        </p:txBody>
      </p:sp>
      <p:pic>
        <p:nvPicPr>
          <p:cNvPr id="5" name="Image 0" descr="/mnt/user-data/uploads/1791257406038_Captura_de_pantalla_2026-10-05_1900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340" y="868680"/>
            <a:ext cx="2816040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73075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27. Código: precios y stock simulado</a:t>
            </a:r>
            <a:endParaRPr lang="en-US" sz="800" dirty="0"/>
          </a:p>
        </p:txBody>
      </p:sp>
      <p:pic>
        <p:nvPicPr>
          <p:cNvPr id="7" name="Image 1" descr="/mnt/user-data/uploads/1791257406038_Captura_de_pantalla_2026-10-05_190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868680"/>
            <a:ext cx="2743200" cy="1799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83280" y="2695817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28. Menú: Realizar pedido, Consultar inventario, Salir</a:t>
            </a:r>
            <a:endParaRPr lang="en-US" sz="800" dirty="0"/>
          </a:p>
        </p:txBody>
      </p:sp>
      <p:pic>
        <p:nvPicPr>
          <p:cNvPr id="9" name="Image 2" descr="/mnt/user-data/uploads/1791257406042_Captura_de_pantalla_2026-10-05_1901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68680"/>
            <a:ext cx="2560320" cy="191332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09360" y="280944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29. Inventario: 10, 8, 6 y 0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44"/>
                </a:solidFill>
              </a:rPr>
              <a:t>La versión final agrega stock por producto (clásica 10, queso 8, doble 6, especial 0) y la opción «Consultar inventario». El comentario del código enlaza el programa con el BPMN (Inicio → … → Fin).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PROGRAMA FINAL INTEGRADOR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Prueba de la versión final: sin ingredientes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27</a:t>
            </a:r>
            <a:endParaRPr lang="en-US" sz="900" dirty="0"/>
          </a:p>
        </p:txBody>
      </p:sp>
      <p:pic>
        <p:nvPicPr>
          <p:cNvPr id="5" name="Image 0" descr="/mnt/user-data/uploads/1791257406042_Captura_de_pantalla_2026-10-05_19015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60" y="868680"/>
            <a:ext cx="315976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409651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30. Especial confirmada, sin ingredientes y alternativa</a:t>
            </a:r>
            <a:endParaRPr lang="en-US" sz="800" dirty="0"/>
          </a:p>
        </p:txBody>
      </p:sp>
      <p:pic>
        <p:nvPicPr>
          <p:cNvPr id="7" name="Image 1" descr="/mnt/user-data/uploads/1791257406043_Captura_de_pantalla_2026-10-05_190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721" y="868680"/>
            <a:ext cx="3301678" cy="3200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63440" y="409651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2F5F"/>
                </a:solidFill>
              </a:rPr>
              <a:t>Figura 31. Preparar, cobro por transferencia y entrega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444444"/>
                </a:solidFill>
              </a:rPr>
              <a:t>Hamburguesa especial ($140) confirmada; sin stock, se ofrece la clásica ($80), el cliente acepta, cocina prepara, pago por Transferencia aprobado, entrega. Total $80.00.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PROGRAMA PRINCIPAL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9. Procedimiento del programa y relación con el BPMN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31089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Paso del programa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Elemento BPMN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Menú principal y opción 1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main(), leerEntero()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Inicio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Mostrar menú y elegir producto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mostrarMenu(), tomarPedido()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Solicitar / Mostrar menú, Tomar pedido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 y confirmación (S/N)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procesarPedido()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Registrar / Confirmar pedido, ¿Cliente confirma?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Cambio de producto si no confirma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modificarPedido()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Modificar pedido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Disponibilidad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verificarIngredientes()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Verificar ingredientes, ¿Hay ingredientes?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 ingredientes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ofrecerAlternativa()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Ofrecer alternativa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y cobro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calcularTotal(), cobrarPedido()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Calcular total, Cobrar pedido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Pago aprobado / rechazado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cobrarPedido()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 pago, ¿Pago aprobado?, Solicitar otro método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Entrega y regreso al menú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entregarPedido()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Entregar / Recibir pedido, Fin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MANUAL TÉCNICO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11. Manual técnico de los tres diagramas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29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0350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Elemento BPMN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Uso en Fast Burger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Pool y carriles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Cliente, Empleado / Cajero y Cocina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Evento de inicio / fin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Inicio y Fin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Tareas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Actividades de cada participante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Compuertas exclusivas (XOR)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 ¿Cliente confirma?, G2 ¿Hay ingredientes?, G3 ¿Pago aprobado?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Flujos de secuencia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 de actividades y rutas Sí/No, con retornos (modificar, alternativa, otro pago)</a:t>
                      </a:r>
                      <a:endParaRPr lang="en-US" sz="14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108960"/>
            <a:ext cx="8412480" cy="155448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imilitudes (visibles en las tres capturas): misma lógica, tres carriles, mismas actividades y compuertas. Diferencias: Camunda muestra tareas con ícono de usuario y compuertas con X; Bizagi y Bonita las muestran con rombo (Bonita con X). Solo Bizagi cuenta con simulación comprobada.</a:t>
            </a:r>
            <a:endParaRPr lang="en-US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MANUAL DE USUARIO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12. Manual de usuario de los tres diagramas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2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Abrir el archivo BPMN en Bizagi, Camunda o Bonita y ajustar el zoom.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Identificar los carriles: Cliente, Empleado / Cajero, Cocina (quién hace cada actividad).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Empezar en el círculo «Inicio» y seguir las flechas.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Rombos = preguntas: ¿Cliente confirma?, ¿Hay ingredientes?, ¿Pago aprobado?; seguir la flecha Sí o No.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Terminar en el círculo «Fin».</a:t>
            </a:r>
            <a:endParaRPr lang="en-US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Recorrido: el cliente pide el menú, se toma y confirma el pedido, cocina lo prepara, se cobra, el cliente paga y recibe el pedido.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CUADRO COMPARATIVO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13. Cuadro comparativo (técnico y de usuario)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31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377440"/>
                <a:gridCol w="21945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Aspecto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Camunda Modeler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Bizagi Modeler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Bonita Studio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Interfaz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Paleta de herramientas a la izquierda y lienzo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Barra «Simulación de procesos» y niveles de análisis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comprobado (solo exportación)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Modelado BPMN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Pool, 3 carriles, tareas, XOR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Pool, 3 carriles, tareas, rombos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Pool, 3 carriles, tareas, XOR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Simulación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comprobado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Sí: 1000 llegadas, 2 pruebas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comprobado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Recursos / calendario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comprobado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Cajero, Cocinero; calendario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comprobado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Análisis de resultados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comprobado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Contadores por tarea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comprobado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Utilidad para el proyecto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Diagrama BPMN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Diagrama y simulación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Diagrama BPMN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Ventajas / desventajas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 nota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 nota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 nota</a:t>
                      </a:r>
                      <a:endParaRPr lang="en-US" sz="1200" dirty="0">
                        <a:solidFill>
                          <a:srgbClr val="44444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Nota: facilidad de uso, ventajas y desventajas no son comprobables con las capturas; en el manual de usuario se evalúan con tu experiencia [DATO FALTANTE: tu opinión de cada herramienta].</a:t>
            </a:r>
            <a:endParaRPr lang="en-US" sz="12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6DB4"/>
                </a:solidFill>
              </a:rPr>
              <a:t>CONCLUSIONES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F5F"/>
                </a:solidFill>
              </a:rPr>
              <a:t>15. Conclusiones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F5F"/>
                </a:solidFill>
              </a:rPr>
              <a:t>33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926080"/>
          </a:xfrm>
          <a:prstGeom prst="rect">
            <a:avLst/>
          </a:prstGeom>
          <a:solidFill>
            <a:srgbClr val="EDF1F9"/>
          </a:solidFill>
          <a:ln w="6350">
            <a:solidFill>
              <a:srgbClr val="D5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60120"/>
            <a:ext cx="822960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modeló el proceso de venta de Fast Burger en tres herramientas BPMN con la misma lógica. La simulación en Bizagi, con 1000 llegadas, mostró que con 1 cajero y 1 cocinero se completaron 773 casos y con 2 de cada uno, 1000. El programa en Java reproduce el flujo (menú, confirmación, ingredientes, alternativa, cobro, pago y entrega) y se probó con pedidos normales y sin ingredientes. Las pruebas permitieron comprobar que el modelo funciona y comparar las herramientas.</a:t>
            </a:r>
            <a:endParaRPr lang="en-US" sz="16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18102</Words>
  <Application>WPS Presentation</Application>
  <PresentationFormat>On-screen Show (16:9)</PresentationFormat>
  <Paragraphs>670</Paragraphs>
  <Slides>32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 Fast Burger</dc:title>
  <dc:creator>PptxGenJS</dc:creator>
  <dc:subject>PptxGenJS Presentation</dc:subject>
  <cp:lastModifiedBy>Axxel hama</cp:lastModifiedBy>
  <cp:revision>3</cp:revision>
  <dcterms:created xsi:type="dcterms:W3CDTF">2026-10-06T03:33:00Z</dcterms:created>
  <dcterms:modified xsi:type="dcterms:W3CDTF">2026-10-06T16:30:30Z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27DD4CD0D9DF45BB928830775E8BB3EF_12</vt:lpwstr>
  </property>
  <property fmtid="{D5CDD505-2E9C-101B-9397-08002B2CF9AE}" pid="3" name="KSOProductBuildVer">
    <vt:lpwstr>2058-12.1.0.28485</vt:lpwstr>
  </property>
</Properties>
</file>